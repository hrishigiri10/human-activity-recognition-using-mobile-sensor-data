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embeddedFontLst>
    <p:embeddedFont>
      <p:font typeface="Arial Black" panose="020B0A04020102020204" pitchFamily="34" charset="0"/>
      <p:regular r:id="rId11"/>
      <p:bold r:id="rId12"/>
    </p:embeddedFont>
    <p:embeddedFont>
      <p:font typeface="Century Gothic" panose="020B0502020202020204" pitchFamily="34" charset="0"/>
      <p:regular r:id="rId13"/>
      <p:bold r:id="rId14"/>
      <p:italic r:id="rId15"/>
      <p:boldItalic r:id="rId16"/>
    </p:embeddedFont>
    <p:embeddedFont>
      <p:font typeface="Trebuchet MS" panose="020B060302020202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CUdqlQkryxo5VhuUEdfn9PbWja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viewProps" Target="viewProp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173" name="Google Shape;17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Calibri"/>
              <a:buNone/>
            </a:pPr>
            <a:endParaRPr/>
          </a:p>
        </p:txBody>
      </p:sp>
      <p:sp>
        <p:nvSpPr>
          <p:cNvPr id="185" name="Google Shape;18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9" name="Google Shape;29;p1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2"/>
        <p:cNvGrpSpPr/>
        <p:nvPr/>
      </p:nvGrpSpPr>
      <p:grpSpPr>
        <a:xfrm>
          <a:off x="0" y="0"/>
          <a:ext cx="0" cy="0"/>
          <a:chOff x="0" y="0"/>
          <a:chExt cx="0" cy="0"/>
        </a:xfrm>
      </p:grpSpPr>
      <p:grpSp>
        <p:nvGrpSpPr>
          <p:cNvPr id="33" name="Google Shape;33;p11"/>
          <p:cNvGrpSpPr/>
          <p:nvPr/>
        </p:nvGrpSpPr>
        <p:grpSpPr>
          <a:xfrm>
            <a:off x="0" y="-8467"/>
            <a:ext cx="12192000" cy="6866467"/>
            <a:chOff x="0" y="-8467"/>
            <a:chExt cx="12192000" cy="6866467"/>
          </a:xfrm>
        </p:grpSpPr>
        <p:cxnSp>
          <p:nvCxnSpPr>
            <p:cNvPr id="34" name="Google Shape;34;p11"/>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35" name="Google Shape;35;p11"/>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36" name="Google Shape;36;p11"/>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37" name="Google Shape;37;p11"/>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8" name="Google Shape;38;p11"/>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11"/>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40" name="Google Shape;40;p11"/>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41" name="Google Shape;41;p11"/>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42" name="Google Shape;42;p11"/>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11"/>
            <p:cNvSpPr/>
            <p:nvPr/>
          </p:nvSpPr>
          <p:spPr>
            <a:xfrm rot="10800000">
              <a:off x="0" y="0"/>
              <a:ext cx="842596" cy="5666154"/>
            </a:xfrm>
            <a:prstGeom prst="triangle">
              <a:avLst>
                <a:gd name="adj" fmla="val 10000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 name="Google Shape;44;p11"/>
          <p:cNvSpPr txBox="1">
            <a:spLocks noGrp="1"/>
          </p:cNvSpPr>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a:endParaRPr/>
          </a:p>
        </p:txBody>
      </p:sp>
      <p:sp>
        <p:nvSpPr>
          <p:cNvPr id="46" name="Google Shape;46;p1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000"/>
              <a:buFont typeface="Trebuchet MS"/>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2"/>
          <p:cNvSpPr txBox="1">
            <a:spLocks noGrp="1"/>
          </p:cNvSpPr>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52" name="Google Shape;52;p1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8" name="Google Shape;58;p13"/>
          <p:cNvSpPr txBox="1">
            <a:spLocks noGrp="1"/>
          </p:cNvSpPr>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59" name="Google Shape;59;p1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5" name="Google Shape;65;p14"/>
          <p:cNvSpPr txBox="1">
            <a:spLocks noGrp="1"/>
          </p:cNvSpPr>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6" name="Google Shape;66;p14"/>
          <p:cNvSpPr txBox="1">
            <a:spLocks noGrp="1"/>
          </p:cNvSpPr>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67" name="Google Shape;67;p14"/>
          <p:cNvSpPr txBox="1">
            <a:spLocks noGrp="1"/>
          </p:cNvSpPr>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68" name="Google Shape;68;p1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6"/>
        <p:cNvGrpSpPr/>
        <p:nvPr/>
      </p:nvGrpSpPr>
      <p:grpSpPr>
        <a:xfrm>
          <a:off x="0" y="0"/>
          <a:ext cx="0" cy="0"/>
          <a:chOff x="0" y="0"/>
          <a:chExt cx="0" cy="0"/>
        </a:xfrm>
      </p:grpSpPr>
      <p:sp>
        <p:nvSpPr>
          <p:cNvPr id="77" name="Google Shape;77;p16"/>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6"/>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6"/>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7"/>
          <p:cNvSpPr txBox="1">
            <a:spLocks noGrp="1"/>
          </p:cNvSpPr>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83" name="Google Shape;83;p17"/>
          <p:cNvSpPr txBox="1">
            <a:spLocks noGrp="1"/>
          </p:cNvSpPr>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1120"/>
              <a:buNone/>
              <a:defRPr sz="1400"/>
            </a:lvl2pPr>
            <a:lvl3pPr marL="1371600" lvl="2" indent="-228600" algn="l">
              <a:spcBef>
                <a:spcPts val="1000"/>
              </a:spcBef>
              <a:spcAft>
                <a:spcPts val="0"/>
              </a:spcAft>
              <a:buSzPts val="960"/>
              <a:buNone/>
              <a:defRPr sz="1200"/>
            </a:lvl3pPr>
            <a:lvl4pPr marL="1828800" lvl="3" indent="-228600" algn="l">
              <a:spcBef>
                <a:spcPts val="1000"/>
              </a:spcBef>
              <a:spcAft>
                <a:spcPts val="0"/>
              </a:spcAft>
              <a:buSzPts val="800"/>
              <a:buNone/>
              <a:defRPr sz="1000"/>
            </a:lvl4pPr>
            <a:lvl5pPr marL="2286000" lvl="4" indent="-228600" algn="l">
              <a:spcBef>
                <a:spcPts val="1000"/>
              </a:spcBef>
              <a:spcAft>
                <a:spcPts val="0"/>
              </a:spcAft>
              <a:buSzPts val="800"/>
              <a:buNone/>
              <a:defRPr sz="1000"/>
            </a:lvl5pPr>
            <a:lvl6pPr marL="2743200" lvl="5" indent="-228600" algn="l">
              <a:spcBef>
                <a:spcPts val="1000"/>
              </a:spcBef>
              <a:spcAft>
                <a:spcPts val="0"/>
              </a:spcAft>
              <a:buSzPts val="800"/>
              <a:buNone/>
              <a:defRPr sz="1000"/>
            </a:lvl6pPr>
            <a:lvl7pPr marL="3200400" lvl="6" indent="-228600" algn="l">
              <a:spcBef>
                <a:spcPts val="1000"/>
              </a:spcBef>
              <a:spcAft>
                <a:spcPts val="0"/>
              </a:spcAft>
              <a:buSzPts val="800"/>
              <a:buNone/>
              <a:defRPr sz="1000"/>
            </a:lvl7pPr>
            <a:lvl8pPr marL="3657600" lvl="7" indent="-228600" algn="l">
              <a:spcBef>
                <a:spcPts val="1000"/>
              </a:spcBef>
              <a:spcAft>
                <a:spcPts val="0"/>
              </a:spcAft>
              <a:buSzPts val="800"/>
              <a:buNone/>
              <a:defRPr sz="1000"/>
            </a:lvl8pPr>
            <a:lvl9pPr marL="4114800" lvl="8" indent="-228600" algn="l">
              <a:spcBef>
                <a:spcPts val="1000"/>
              </a:spcBef>
              <a:spcAft>
                <a:spcPts val="0"/>
              </a:spcAft>
              <a:buSzPts val="800"/>
              <a:buNone/>
              <a:defRPr sz="1000"/>
            </a:lvl9pPr>
          </a:lstStyle>
          <a:p>
            <a:endParaRPr/>
          </a:p>
        </p:txBody>
      </p:sp>
      <p:sp>
        <p:nvSpPr>
          <p:cNvPr id="84" name="Google Shape;84;p17"/>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7"/>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7"/>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2400"/>
              <a:buFont typeface="Trebuchet MS"/>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8"/>
          <p:cNvSpPr>
            <a:spLocks noGrp="1"/>
          </p:cNvSpPr>
          <p:nvPr>
            <p:ph type="pic" idx="2"/>
          </p:nvPr>
        </p:nvSpPr>
        <p:spPr>
          <a:xfrm>
            <a:off x="677334" y="609600"/>
            <a:ext cx="8596668" cy="3845718"/>
          </a:xfrm>
          <a:prstGeom prst="rect">
            <a:avLst/>
          </a:prstGeom>
          <a:noFill/>
          <a:ln>
            <a:noFill/>
          </a:ln>
        </p:spPr>
      </p:sp>
      <p:sp>
        <p:nvSpPr>
          <p:cNvPr id="90" name="Google Shape;90;p18"/>
          <p:cNvSpPr txBox="1">
            <a:spLocks noGrp="1"/>
          </p:cNvSpPr>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1" name="Google Shape;91;p18"/>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8"/>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8"/>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9"/>
          <p:cNvSpPr txBox="1">
            <a:spLocks noGrp="1"/>
          </p:cNvSpPr>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97" name="Google Shape;97;p1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20"/>
          <p:cNvSpPr txBox="1">
            <a:spLocks noGrp="1"/>
          </p:cNvSpPr>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280"/>
              <a:buFont typeface="Trebuchet MS"/>
              <a:buNone/>
              <a:defRPr sz="1600">
                <a:solidFill>
                  <a:srgbClr val="7F7F7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03" name="Google Shape;103;p20"/>
          <p:cNvSpPr txBox="1">
            <a:spLocks noGrp="1"/>
          </p:cNvSpPr>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04" name="Google Shape;104;p20"/>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0"/>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20"/>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7" name="Google Shape;107;p20"/>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BFE471"/>
                </a:solidFill>
                <a:latin typeface="Arial"/>
                <a:ea typeface="Arial"/>
                <a:cs typeface="Arial"/>
                <a:sym typeface="Arial"/>
              </a:rPr>
              <a:t>“</a:t>
            </a:r>
            <a:endParaRPr/>
          </a:p>
        </p:txBody>
      </p:sp>
      <p:sp>
        <p:nvSpPr>
          <p:cNvPr id="108" name="Google Shape;108;p20"/>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BFE471"/>
                </a:solidFill>
                <a:latin typeface="Arial"/>
                <a:ea typeface="Arial"/>
                <a:cs typeface="Arial"/>
                <a:sym typeface="Arial"/>
              </a:rPr>
              <a:t>”</a:t>
            </a:r>
            <a:endParaRPr sz="1800" b="0" i="0" u="none" strike="noStrike" cap="none">
              <a:solidFill>
                <a:srgbClr val="BFE471"/>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9"/>
        <p:cNvGrpSpPr/>
        <p:nvPr/>
      </p:nvGrpSpPr>
      <p:grpSpPr>
        <a:xfrm>
          <a:off x="0" y="0"/>
          <a:ext cx="0" cy="0"/>
          <a:chOff x="0" y="0"/>
          <a:chExt cx="0" cy="0"/>
        </a:xfrm>
      </p:grpSpPr>
      <p:sp>
        <p:nvSpPr>
          <p:cNvPr id="110" name="Google Shape;110;p21"/>
          <p:cNvSpPr txBox="1">
            <a:spLocks noGrp="1"/>
          </p:cNvSpPr>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21"/>
          <p:cNvSpPr txBox="1">
            <a:spLocks noGrp="1"/>
          </p:cNvSpPr>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3F3F3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2" name="Google Shape;112;p21"/>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1"/>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1"/>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2"/>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rgbClr val="3F3F3F"/>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18" name="Google Shape;118;p22"/>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19" name="Google Shape;119;p22"/>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2"/>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2"/>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22"/>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BFE471"/>
                </a:solidFill>
                <a:latin typeface="Arial"/>
                <a:ea typeface="Arial"/>
                <a:cs typeface="Arial"/>
                <a:sym typeface="Arial"/>
              </a:rPr>
              <a:t>“</a:t>
            </a:r>
            <a:endParaRPr/>
          </a:p>
        </p:txBody>
      </p:sp>
      <p:sp>
        <p:nvSpPr>
          <p:cNvPr id="123" name="Google Shape;123;p22"/>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8000" b="0" i="0" u="none" strike="noStrike" cap="none">
                <a:solidFill>
                  <a:srgbClr val="BFE47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4400"/>
              <a:buFont typeface="Trebuchet MS"/>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3"/>
          <p:cNvSpPr txBox="1">
            <a:spLocks noGrp="1"/>
          </p:cNvSpPr>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Font typeface="Trebuchet MS"/>
              <a:buNone/>
              <a:defRPr sz="2400">
                <a:solidFill>
                  <a:schemeClr val="accent1"/>
                </a:solidFill>
              </a:defRPr>
            </a:lvl1pPr>
            <a:lvl2pPr marL="914400" lvl="1" indent="-228600" algn="l">
              <a:spcBef>
                <a:spcPts val="1000"/>
              </a:spcBef>
              <a:spcAft>
                <a:spcPts val="0"/>
              </a:spcAft>
              <a:buSzPts val="1280"/>
              <a:buFont typeface="Trebuchet MS"/>
              <a:buNone/>
              <a:defRPr/>
            </a:lvl2pPr>
            <a:lvl3pPr marL="1371600" lvl="2" indent="-228600" algn="l">
              <a:spcBef>
                <a:spcPts val="1000"/>
              </a:spcBef>
              <a:spcAft>
                <a:spcPts val="0"/>
              </a:spcAft>
              <a:buSzPts val="1120"/>
              <a:buFont typeface="Trebuchet MS"/>
              <a:buNone/>
              <a:defRPr/>
            </a:lvl3pPr>
            <a:lvl4pPr marL="1828800" lvl="3" indent="-228600" algn="l">
              <a:spcBef>
                <a:spcPts val="1000"/>
              </a:spcBef>
              <a:spcAft>
                <a:spcPts val="0"/>
              </a:spcAft>
              <a:buSzPts val="960"/>
              <a:buFont typeface="Trebuchet MS"/>
              <a:buNone/>
              <a:defRPr/>
            </a:lvl4pPr>
            <a:lvl5pPr marL="2286000" lvl="4" indent="-228600" algn="l">
              <a:spcBef>
                <a:spcPts val="1000"/>
              </a:spcBef>
              <a:spcAft>
                <a:spcPts val="0"/>
              </a:spcAft>
              <a:buSzPts val="960"/>
              <a:buFont typeface="Trebuchet MS"/>
              <a:buNone/>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27" name="Google Shape;127;p23"/>
          <p:cNvSpPr txBox="1">
            <a:spLocks noGrp="1"/>
          </p:cNvSpPr>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40"/>
              <a:buNone/>
              <a:defRPr sz="1800">
                <a:solidFill>
                  <a:srgbClr val="7F7F7F"/>
                </a:solidFill>
              </a:defRPr>
            </a:lvl1pPr>
            <a:lvl2pPr marL="914400" lvl="1" indent="-228600" algn="l">
              <a:spcBef>
                <a:spcPts val="1000"/>
              </a:spcBef>
              <a:spcAft>
                <a:spcPts val="0"/>
              </a:spcAft>
              <a:buSzPts val="1440"/>
              <a:buNone/>
              <a:defRPr sz="1800">
                <a:solidFill>
                  <a:srgbClr val="888888"/>
                </a:solidFill>
              </a:defRPr>
            </a:lvl2pPr>
            <a:lvl3pPr marL="1371600" lvl="2" indent="-228600" algn="l">
              <a:spcBef>
                <a:spcPts val="1000"/>
              </a:spcBef>
              <a:spcAft>
                <a:spcPts val="0"/>
              </a:spcAft>
              <a:buSzPts val="1280"/>
              <a:buNone/>
              <a:defRPr sz="1600">
                <a:solidFill>
                  <a:srgbClr val="888888"/>
                </a:solidFill>
              </a:defRPr>
            </a:lvl3pPr>
            <a:lvl4pPr marL="1828800" lvl="3" indent="-228600" algn="l">
              <a:spcBef>
                <a:spcPts val="1000"/>
              </a:spcBef>
              <a:spcAft>
                <a:spcPts val="0"/>
              </a:spcAft>
              <a:buSzPts val="1120"/>
              <a:buNone/>
              <a:defRPr sz="1400">
                <a:solidFill>
                  <a:srgbClr val="888888"/>
                </a:solidFill>
              </a:defRPr>
            </a:lvl4pPr>
            <a:lvl5pPr marL="2286000" lvl="4" indent="-228600" algn="l">
              <a:spcBef>
                <a:spcPts val="1000"/>
              </a:spcBef>
              <a:spcAft>
                <a:spcPts val="0"/>
              </a:spcAft>
              <a:buSzPts val="1120"/>
              <a:buNone/>
              <a:defRPr sz="1400">
                <a:solidFill>
                  <a:srgbClr val="888888"/>
                </a:solidFill>
              </a:defRPr>
            </a:lvl5pPr>
            <a:lvl6pPr marL="2743200" lvl="5" indent="-228600" algn="l">
              <a:spcBef>
                <a:spcPts val="1000"/>
              </a:spcBef>
              <a:spcAft>
                <a:spcPts val="0"/>
              </a:spcAft>
              <a:buSzPts val="1120"/>
              <a:buNone/>
              <a:defRPr sz="1400">
                <a:solidFill>
                  <a:srgbClr val="888888"/>
                </a:solidFill>
              </a:defRPr>
            </a:lvl6pPr>
            <a:lvl7pPr marL="3200400" lvl="6" indent="-228600" algn="l">
              <a:spcBef>
                <a:spcPts val="1000"/>
              </a:spcBef>
              <a:spcAft>
                <a:spcPts val="0"/>
              </a:spcAft>
              <a:buSzPts val="1120"/>
              <a:buNone/>
              <a:defRPr sz="1400">
                <a:solidFill>
                  <a:srgbClr val="888888"/>
                </a:solidFill>
              </a:defRPr>
            </a:lvl7pPr>
            <a:lvl8pPr marL="3657600" lvl="7" indent="-228600" algn="l">
              <a:spcBef>
                <a:spcPts val="1000"/>
              </a:spcBef>
              <a:spcAft>
                <a:spcPts val="0"/>
              </a:spcAft>
              <a:buSzPts val="1120"/>
              <a:buNone/>
              <a:defRPr sz="1400">
                <a:solidFill>
                  <a:srgbClr val="888888"/>
                </a:solidFill>
              </a:defRPr>
            </a:lvl8pPr>
            <a:lvl9pPr marL="4114800" lvl="8" indent="-228600" algn="l">
              <a:spcBef>
                <a:spcPts val="1000"/>
              </a:spcBef>
              <a:spcAft>
                <a:spcPts val="0"/>
              </a:spcAft>
              <a:buSzPts val="1120"/>
              <a:buNone/>
              <a:defRPr sz="1400">
                <a:solidFill>
                  <a:srgbClr val="888888"/>
                </a:solidFill>
              </a:defRPr>
            </a:lvl9pPr>
          </a:lstStyle>
          <a:p>
            <a:endParaRPr/>
          </a:p>
        </p:txBody>
      </p:sp>
      <p:sp>
        <p:nvSpPr>
          <p:cNvPr id="128" name="Google Shape;128;p23"/>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23"/>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23"/>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24"/>
          <p:cNvSpPr txBox="1">
            <a:spLocks noGrp="1"/>
          </p:cNvSpPr>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4" name="Google Shape;134;p24"/>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4"/>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24"/>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7"/>
        <p:cNvGrpSpPr/>
        <p:nvPr/>
      </p:nvGrpSpPr>
      <p:grpSpPr>
        <a:xfrm>
          <a:off x="0" y="0"/>
          <a:ext cx="0" cy="0"/>
          <a:chOff x="0" y="0"/>
          <a:chExt cx="0" cy="0"/>
        </a:xfrm>
      </p:grpSpPr>
      <p:sp>
        <p:nvSpPr>
          <p:cNvPr id="138" name="Google Shape;138;p25"/>
          <p:cNvSpPr txBox="1">
            <a:spLocks noGrp="1"/>
          </p:cNvSpPr>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25"/>
          <p:cNvSpPr txBox="1">
            <a:spLocks noGrp="1"/>
          </p:cNvSpPr>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40" name="Google Shape;140;p25"/>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25"/>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5"/>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grpSp>
        <p:nvGrpSpPr>
          <p:cNvPr id="10" name="Google Shape;10;p9"/>
          <p:cNvGrpSpPr/>
          <p:nvPr/>
        </p:nvGrpSpPr>
        <p:grpSpPr>
          <a:xfrm>
            <a:off x="0" y="-8467"/>
            <a:ext cx="12192000" cy="6866467"/>
            <a:chOff x="0" y="-8467"/>
            <a:chExt cx="12192000" cy="6866467"/>
          </a:xfrm>
        </p:grpSpPr>
        <p:cxnSp>
          <p:nvCxnSpPr>
            <p:cNvPr id="11" name="Google Shape;11;p9"/>
            <p:cNvCxnSpPr/>
            <p:nvPr/>
          </p:nvCxnSpPr>
          <p:spPr>
            <a:xfrm>
              <a:off x="9371012" y="0"/>
              <a:ext cx="1219200" cy="6858000"/>
            </a:xfrm>
            <a:prstGeom prst="straightConnector1">
              <a:avLst/>
            </a:prstGeom>
            <a:noFill/>
            <a:ln w="9525" cap="flat" cmpd="sng">
              <a:solidFill>
                <a:srgbClr val="BFBFBF"/>
              </a:solidFill>
              <a:prstDash val="solid"/>
              <a:round/>
              <a:headEnd type="none" w="sm" len="sm"/>
              <a:tailEnd type="none" w="sm" len="sm"/>
            </a:ln>
          </p:spPr>
        </p:cxnSp>
        <p:cxnSp>
          <p:nvCxnSpPr>
            <p:cNvPr id="12" name="Google Shape;12;p9"/>
            <p:cNvCxnSpPr/>
            <p:nvPr/>
          </p:nvCxnSpPr>
          <p:spPr>
            <a:xfrm flipH="1">
              <a:off x="7425267" y="3681413"/>
              <a:ext cx="4763558" cy="3176587"/>
            </a:xfrm>
            <a:prstGeom prst="straightConnector1">
              <a:avLst/>
            </a:prstGeom>
            <a:noFill/>
            <a:ln w="9525" cap="flat" cmpd="sng">
              <a:solidFill>
                <a:srgbClr val="D8D8D8"/>
              </a:solidFill>
              <a:prstDash val="solid"/>
              <a:round/>
              <a:headEnd type="none" w="sm" len="sm"/>
              <a:tailEnd type="none" w="sm" len="sm"/>
            </a:ln>
          </p:spPr>
        </p:cxnSp>
        <p:sp>
          <p:nvSpPr>
            <p:cNvPr id="13" name="Google Shape;13;p9"/>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4" name="Google Shape;14;p9"/>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9"/>
            <p:cNvSpPr/>
            <p:nvPr/>
          </p:nvSpPr>
          <p:spPr>
            <a:xfrm>
              <a:off x="8932333" y="3048000"/>
              <a:ext cx="3259667" cy="3810000"/>
            </a:xfrm>
            <a:prstGeom prst="triangle">
              <a:avLst>
                <a:gd name="adj" fmla="val 100000"/>
              </a:avLst>
            </a:prstGeom>
            <a:solidFill>
              <a:schemeClr val="accent2">
                <a:alpha val="71764"/>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9"/>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803"/>
              </a:srgbClr>
            </a:solidFill>
            <a:ln>
              <a:noFill/>
            </a:ln>
          </p:spPr>
        </p:sp>
        <p:sp>
          <p:nvSpPr>
            <p:cNvPr id="17" name="Google Shape;17;p9"/>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803"/>
              </a:srgbClr>
            </a:solidFill>
            <a:ln>
              <a:noFill/>
            </a:ln>
          </p:spPr>
        </p:sp>
        <p:sp>
          <p:nvSpPr>
            <p:cNvPr id="18" name="Google Shape;18;p9"/>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9" name="Google Shape;19;p9"/>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9"/>
            <p:cNvSpPr/>
            <p:nvPr/>
          </p:nvSpPr>
          <p:spPr>
            <a:xfrm>
              <a:off x="0" y="4013200"/>
              <a:ext cx="448733" cy="2844800"/>
            </a:xfrm>
            <a:prstGeom prst="triangle">
              <a:avLst>
                <a:gd name="adj" fmla="val 0"/>
              </a:avLst>
            </a:prstGeom>
            <a:solidFill>
              <a:schemeClr val="accent1">
                <a:alpha val="84705"/>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9"/>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chemeClr val="accent1"/>
              </a:buClr>
              <a:buSzPts val="3600"/>
              <a:buFont typeface="Trebuchet MS"/>
              <a:buNone/>
              <a:defRPr sz="3600" b="0" i="0" u="none" strike="noStrike" cap="none">
                <a:solidFill>
                  <a:schemeClr val="accent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22" name="Google Shape;22;p9"/>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spcBef>
                <a:spcPts val="1000"/>
              </a:spcBef>
              <a:spcAft>
                <a:spcPts val="0"/>
              </a:spcAft>
              <a:buClr>
                <a:schemeClr val="accent1"/>
              </a:buClr>
              <a:buSzPts val="1440"/>
              <a:buFont typeface="Noto Sans Symbols"/>
              <a:buChar char="►"/>
              <a:defRPr sz="1800" b="0" i="0" u="none" strike="noStrike" cap="none">
                <a:solidFill>
                  <a:srgbClr val="3F3F3F"/>
                </a:solidFill>
                <a:latin typeface="Trebuchet MS"/>
                <a:ea typeface="Trebuchet MS"/>
                <a:cs typeface="Trebuchet MS"/>
                <a:sym typeface="Trebuchet MS"/>
              </a:defRPr>
            </a:lvl1pPr>
            <a:lvl2pPr marL="914400" marR="0" lvl="1" indent="-309880" algn="l" rtl="0">
              <a:spcBef>
                <a:spcPts val="1000"/>
              </a:spcBef>
              <a:spcAft>
                <a:spcPts val="0"/>
              </a:spcAft>
              <a:buClr>
                <a:schemeClr val="accent1"/>
              </a:buClr>
              <a:buSzPts val="1280"/>
              <a:buFont typeface="Noto Sans Symbols"/>
              <a:buChar char="►"/>
              <a:defRPr sz="1600" b="0" i="0" u="none" strike="noStrike" cap="none">
                <a:solidFill>
                  <a:srgbClr val="3F3F3F"/>
                </a:solidFill>
                <a:latin typeface="Trebuchet MS"/>
                <a:ea typeface="Trebuchet MS"/>
                <a:cs typeface="Trebuchet MS"/>
                <a:sym typeface="Trebuchet MS"/>
              </a:defRPr>
            </a:lvl2pPr>
            <a:lvl3pPr marL="1371600" marR="0" lvl="2" indent="-299719" algn="l" rtl="0">
              <a:spcBef>
                <a:spcPts val="1000"/>
              </a:spcBef>
              <a:spcAft>
                <a:spcPts val="0"/>
              </a:spcAft>
              <a:buClr>
                <a:schemeClr val="accent1"/>
              </a:buClr>
              <a:buSzPts val="1120"/>
              <a:buFont typeface="Noto Sans Symbols"/>
              <a:buChar char="►"/>
              <a:defRPr sz="1400" b="0" i="0" u="none" strike="noStrike" cap="none">
                <a:solidFill>
                  <a:srgbClr val="3F3F3F"/>
                </a:solidFill>
                <a:latin typeface="Trebuchet MS"/>
                <a:ea typeface="Trebuchet MS"/>
                <a:cs typeface="Trebuchet MS"/>
                <a:sym typeface="Trebuchet MS"/>
              </a:defRPr>
            </a:lvl3pPr>
            <a:lvl4pPr marL="1828800" marR="0" lvl="3"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4pPr>
            <a:lvl5pPr marL="2286000" marR="0" lvl="4"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5pPr>
            <a:lvl6pPr marL="2743200" marR="0" lvl="5"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6pPr>
            <a:lvl7pPr marL="3200400" marR="0" lvl="6" indent="-289560"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7pPr>
            <a:lvl8pPr marL="3657600" marR="0" lvl="7"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8pPr>
            <a:lvl9pPr marL="4114800" marR="0" lvl="8" indent="-289559" algn="l" rtl="0">
              <a:spcBef>
                <a:spcPts val="1000"/>
              </a:spcBef>
              <a:spcAft>
                <a:spcPts val="0"/>
              </a:spcAft>
              <a:buClr>
                <a:schemeClr val="accent1"/>
              </a:buClr>
              <a:buSzPts val="960"/>
              <a:buFont typeface="Noto Sans Symbols"/>
              <a:buChar char="►"/>
              <a:defRPr sz="1200" b="0" i="0" u="none" strike="noStrike" cap="none">
                <a:solidFill>
                  <a:srgbClr val="3F3F3F"/>
                </a:solidFill>
                <a:latin typeface="Trebuchet MS"/>
                <a:ea typeface="Trebuchet MS"/>
                <a:cs typeface="Trebuchet MS"/>
                <a:sym typeface="Trebuchet MS"/>
              </a:defRPr>
            </a:lvl9pPr>
          </a:lstStyle>
          <a:p>
            <a:endParaRPr/>
          </a:p>
        </p:txBody>
      </p:sp>
      <p:sp>
        <p:nvSpPr>
          <p:cNvPr id="23" name="Google Shape;23;p9"/>
          <p:cNvSpPr txBox="1">
            <a:spLocks noGrp="1"/>
          </p:cNvSpPr>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4" name="Google Shape;24;p9"/>
          <p:cNvSpPr txBox="1">
            <a:spLocks noGrp="1"/>
          </p:cNvSpPr>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25" name="Google Shape;25;p9"/>
          <p:cNvSpPr txBox="1">
            <a:spLocks noGrp="1"/>
          </p:cNvSpPr>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accent1"/>
                </a:solidFill>
                <a:latin typeface="Trebuchet MS"/>
                <a:ea typeface="Trebuchet MS"/>
                <a:cs typeface="Trebuchet MS"/>
                <a:sym typeface="Trebuchet MS"/>
              </a:defRPr>
            </a:lvl1pPr>
            <a:lvl2pPr marL="0" marR="0" lvl="1" indent="0" algn="r" rtl="0">
              <a:spcBef>
                <a:spcPts val="0"/>
              </a:spcBef>
              <a:buNone/>
              <a:defRPr sz="900" b="0" i="0" u="none" strike="noStrike" cap="none">
                <a:solidFill>
                  <a:schemeClr val="accent1"/>
                </a:solidFill>
                <a:latin typeface="Trebuchet MS"/>
                <a:ea typeface="Trebuchet MS"/>
                <a:cs typeface="Trebuchet MS"/>
                <a:sym typeface="Trebuchet MS"/>
              </a:defRPr>
            </a:lvl2pPr>
            <a:lvl3pPr marL="0" marR="0" lvl="2" indent="0" algn="r" rtl="0">
              <a:spcBef>
                <a:spcPts val="0"/>
              </a:spcBef>
              <a:buNone/>
              <a:defRPr sz="900" b="0" i="0" u="none" strike="noStrike" cap="none">
                <a:solidFill>
                  <a:schemeClr val="accent1"/>
                </a:solidFill>
                <a:latin typeface="Trebuchet MS"/>
                <a:ea typeface="Trebuchet MS"/>
                <a:cs typeface="Trebuchet MS"/>
                <a:sym typeface="Trebuchet MS"/>
              </a:defRPr>
            </a:lvl3pPr>
            <a:lvl4pPr marL="0" marR="0" lvl="3" indent="0" algn="r" rtl="0">
              <a:spcBef>
                <a:spcPts val="0"/>
              </a:spcBef>
              <a:buNone/>
              <a:defRPr sz="900" b="0" i="0" u="none" strike="noStrike" cap="none">
                <a:solidFill>
                  <a:schemeClr val="accent1"/>
                </a:solidFill>
                <a:latin typeface="Trebuchet MS"/>
                <a:ea typeface="Trebuchet MS"/>
                <a:cs typeface="Trebuchet MS"/>
                <a:sym typeface="Trebuchet MS"/>
              </a:defRPr>
            </a:lvl4pPr>
            <a:lvl5pPr marL="0" marR="0" lvl="4" indent="0" algn="r" rtl="0">
              <a:spcBef>
                <a:spcPts val="0"/>
              </a:spcBef>
              <a:buNone/>
              <a:defRPr sz="900" b="0" i="0" u="none" strike="noStrike" cap="none">
                <a:solidFill>
                  <a:schemeClr val="accent1"/>
                </a:solidFill>
                <a:latin typeface="Trebuchet MS"/>
                <a:ea typeface="Trebuchet MS"/>
                <a:cs typeface="Trebuchet MS"/>
                <a:sym typeface="Trebuchet MS"/>
              </a:defRPr>
            </a:lvl5pPr>
            <a:lvl6pPr marL="0" marR="0" lvl="5" indent="0" algn="r" rtl="0">
              <a:spcBef>
                <a:spcPts val="0"/>
              </a:spcBef>
              <a:buNone/>
              <a:defRPr sz="900" b="0" i="0" u="none" strike="noStrike" cap="none">
                <a:solidFill>
                  <a:schemeClr val="accent1"/>
                </a:solidFill>
                <a:latin typeface="Trebuchet MS"/>
                <a:ea typeface="Trebuchet MS"/>
                <a:cs typeface="Trebuchet MS"/>
                <a:sym typeface="Trebuchet MS"/>
              </a:defRPr>
            </a:lvl6pPr>
            <a:lvl7pPr marL="0" marR="0" lvl="6" indent="0" algn="r" rtl="0">
              <a:spcBef>
                <a:spcPts val="0"/>
              </a:spcBef>
              <a:buNone/>
              <a:defRPr sz="900" b="0" i="0" u="none" strike="noStrike" cap="none">
                <a:solidFill>
                  <a:schemeClr val="accent1"/>
                </a:solidFill>
                <a:latin typeface="Trebuchet MS"/>
                <a:ea typeface="Trebuchet MS"/>
                <a:cs typeface="Trebuchet MS"/>
                <a:sym typeface="Trebuchet MS"/>
              </a:defRPr>
            </a:lvl7pPr>
            <a:lvl8pPr marL="0" marR="0" lvl="7" indent="0" algn="r" rtl="0">
              <a:spcBef>
                <a:spcPts val="0"/>
              </a:spcBef>
              <a:buNone/>
              <a:defRPr sz="900" b="0" i="0" u="none" strike="noStrike" cap="none">
                <a:solidFill>
                  <a:schemeClr val="accent1"/>
                </a:solidFill>
                <a:latin typeface="Trebuchet MS"/>
                <a:ea typeface="Trebuchet MS"/>
                <a:cs typeface="Trebuchet MS"/>
                <a:sym typeface="Trebuchet MS"/>
              </a:defRPr>
            </a:lvl8pPr>
            <a:lvl9pPr marL="0" marR="0" lvl="8" indent="0" algn="r" rtl="0">
              <a:spcBef>
                <a:spcPts val="0"/>
              </a:spcBef>
              <a:buNone/>
              <a:defRPr sz="900" b="0" i="0" u="none" strike="noStrike" cap="none">
                <a:solidFill>
                  <a:schemeClr val="accent1"/>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mailto:team.placements@learnbay.co"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
          <p:cNvSpPr txBox="1">
            <a:spLocks noGrp="1"/>
          </p:cNvSpPr>
          <p:nvPr>
            <p:ph type="title"/>
          </p:nvPr>
        </p:nvSpPr>
        <p:spPr>
          <a:xfrm>
            <a:off x="527300" y="868275"/>
            <a:ext cx="8840400" cy="44565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accent1"/>
              </a:buClr>
              <a:buSzPts val="5300"/>
              <a:buFont typeface="Trebuchet MS"/>
              <a:buNone/>
            </a:pPr>
            <a:r>
              <a:rPr lang="en-US" sz="5300" b="1" dirty="0">
                <a:solidFill>
                  <a:schemeClr val="dk2"/>
                </a:solidFill>
              </a:rPr>
              <a:t>Human Activity Recognition Using Mobile Sensor Data</a:t>
            </a:r>
            <a:endParaRPr sz="5300" b="1" dirty="0">
              <a:solidFill>
                <a:schemeClr val="dk2"/>
              </a:solidFill>
            </a:endParaRPr>
          </a:p>
          <a:p>
            <a:pPr marL="0" lvl="0" indent="0" algn="ctr" rtl="0">
              <a:spcBef>
                <a:spcPts val="0"/>
              </a:spcBef>
              <a:spcAft>
                <a:spcPts val="0"/>
              </a:spcAft>
              <a:buClr>
                <a:schemeClr val="accent1"/>
              </a:buClr>
              <a:buSzPts val="5300"/>
              <a:buFont typeface="Trebuchet MS"/>
              <a:buNone/>
            </a:pPr>
            <a:r>
              <a:rPr lang="en-US" sz="2700" dirty="0"/>
              <a:t> </a:t>
            </a:r>
            <a:br>
              <a:rPr lang="en-US" dirty="0"/>
            </a:b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accent1"/>
              </a:buClr>
              <a:buSzPts val="3600"/>
              <a:buFont typeface="Trebuchet MS"/>
              <a:buNone/>
            </a:pPr>
            <a:r>
              <a:rPr lang="en-US" b="1"/>
              <a:t>Problem Statement</a:t>
            </a:r>
            <a:endParaRPr b="1"/>
          </a:p>
        </p:txBody>
      </p:sp>
      <p:sp>
        <p:nvSpPr>
          <p:cNvPr id="153" name="Google Shape;153;p2"/>
          <p:cNvSpPr txBox="1">
            <a:spLocks noGrp="1"/>
          </p:cNvSpPr>
          <p:nvPr>
            <p:ph type="body" idx="1"/>
          </p:nvPr>
        </p:nvSpPr>
        <p:spPr>
          <a:xfrm>
            <a:off x="189925" y="1417725"/>
            <a:ext cx="9462900" cy="4924800"/>
          </a:xfrm>
          <a:prstGeom prst="rect">
            <a:avLst/>
          </a:prstGeom>
          <a:noFill/>
          <a:ln>
            <a:noFill/>
          </a:ln>
        </p:spPr>
        <p:txBody>
          <a:bodyPr spcFirstLastPara="1" wrap="square" lIns="91425" tIns="45700" rIns="91425" bIns="45700" anchor="t" anchorCtr="0">
            <a:normAutofit/>
          </a:bodyPr>
          <a:lstStyle/>
          <a:p>
            <a:pPr marL="342900" lvl="0" indent="-251459" algn="l" rtl="0">
              <a:spcBef>
                <a:spcPts val="0"/>
              </a:spcBef>
              <a:spcAft>
                <a:spcPts val="0"/>
              </a:spcAft>
              <a:buSzPts val="1440"/>
              <a:buNone/>
            </a:pPr>
            <a:endParaRPr/>
          </a:p>
          <a:p>
            <a:pPr marL="800100" lvl="0" indent="-342900" algn="l" rtl="0">
              <a:spcBef>
                <a:spcPts val="1000"/>
              </a:spcBef>
              <a:spcAft>
                <a:spcPts val="0"/>
              </a:spcAft>
              <a:buSzPts val="1440"/>
              <a:buChar char="►"/>
            </a:pPr>
            <a:r>
              <a:rPr lang="en-US" sz="2400"/>
              <a:t>Human activity recognition (HAR) is a critical task in fields like health monitoring, sports analysis, and mobile computing. Using mobile devices equipped with Inertial Measurement Unit (IMU) sensors, such as accelerometers and gyroscopes, it's possible to detect and classify human movements in real-time. In this project, we aim to leverage accelerometer and gyroscope data collected from mobile devices to accurately classify basic human activities, specifically distinguishing between "standing" and "walking.</a:t>
            </a:r>
            <a:r>
              <a:rPr lang="en-US"/>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
          <p:cNvSpPr txBox="1">
            <a:spLocks noGrp="1"/>
          </p:cNvSpPr>
          <p:nvPr>
            <p:ph type="subTitle" idx="1"/>
          </p:nvPr>
        </p:nvSpPr>
        <p:spPr>
          <a:xfrm>
            <a:off x="1161300" y="1152152"/>
            <a:ext cx="9506700" cy="5706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40"/>
              <a:buNone/>
            </a:pPr>
            <a:r>
              <a:rPr lang="en-US" sz="2400" b="1" i="0" u="none" strike="noStrike" cap="none">
                <a:solidFill>
                  <a:schemeClr val="dk1"/>
                </a:solidFill>
                <a:latin typeface="Arial"/>
                <a:ea typeface="Arial"/>
                <a:cs typeface="Arial"/>
                <a:sym typeface="Arial"/>
              </a:rPr>
              <a:t>Goal / Objective</a:t>
            </a:r>
            <a:endParaRPr sz="2400"/>
          </a:p>
          <a:p>
            <a:pPr marL="0" lvl="0" indent="0" algn="l" rtl="0">
              <a:lnSpc>
                <a:spcPct val="100000"/>
              </a:lnSpc>
              <a:spcBef>
                <a:spcPts val="0"/>
              </a:spcBef>
              <a:spcAft>
                <a:spcPts val="0"/>
              </a:spcAft>
              <a:buSzPts val="1600"/>
              <a:buNone/>
            </a:pPr>
            <a:r>
              <a:rPr lang="en-US" sz="2400" b="0" i="0" u="none" strike="noStrike" cap="none">
                <a:solidFill>
                  <a:schemeClr val="dk1"/>
                </a:solidFill>
                <a:latin typeface="Arial"/>
                <a:ea typeface="Arial"/>
                <a:cs typeface="Arial"/>
                <a:sym typeface="Arial"/>
              </a:rPr>
              <a:t>The objective of this project is to develop a machine learning model that can recognize and classify human activities based on sensor data from a mobile device. Using accelerometer and gyroscope data collected at King Saud University, this project aims to:</a:t>
            </a:r>
            <a:endParaRPr sz="2400" b="0" i="0" u="none" strike="noStrike" cap="none">
              <a:solidFill>
                <a:schemeClr val="dk1"/>
              </a:solidFill>
              <a:latin typeface="Arial"/>
              <a:ea typeface="Arial"/>
              <a:cs typeface="Arial"/>
              <a:sym typeface="Arial"/>
            </a:endParaRPr>
          </a:p>
          <a:p>
            <a:pPr marL="0" lvl="0" indent="-152400" algn="l" rtl="0">
              <a:lnSpc>
                <a:spcPct val="100000"/>
              </a:lnSpc>
              <a:spcBef>
                <a:spcPts val="0"/>
              </a:spcBef>
              <a:spcAft>
                <a:spcPts val="0"/>
              </a:spcAft>
              <a:buSzPts val="2400"/>
              <a:buFont typeface="Arial"/>
              <a:buAutoNum type="arabicPeriod"/>
            </a:pPr>
            <a:r>
              <a:rPr lang="en-US" sz="2400" b="1" i="0" u="none" strike="noStrike" cap="none">
                <a:solidFill>
                  <a:schemeClr val="dk1"/>
                </a:solidFill>
                <a:latin typeface="Arial"/>
                <a:ea typeface="Arial"/>
                <a:cs typeface="Arial"/>
                <a:sym typeface="Arial"/>
              </a:rPr>
              <a:t>Analyze and preprocess</a:t>
            </a:r>
            <a:r>
              <a:rPr lang="en-US" sz="2400" b="0" i="0" u="none" strike="noStrike" cap="none">
                <a:solidFill>
                  <a:schemeClr val="dk1"/>
                </a:solidFill>
                <a:latin typeface="Arial"/>
                <a:ea typeface="Arial"/>
                <a:cs typeface="Arial"/>
                <a:sym typeface="Arial"/>
              </a:rPr>
              <a:t> the data to make it suitable for machine learning.</a:t>
            </a:r>
            <a:endParaRPr sz="2400"/>
          </a:p>
          <a:p>
            <a:pPr marL="0" lvl="0" indent="-152400" algn="l" rtl="0">
              <a:lnSpc>
                <a:spcPct val="100000"/>
              </a:lnSpc>
              <a:spcBef>
                <a:spcPts val="0"/>
              </a:spcBef>
              <a:spcAft>
                <a:spcPts val="0"/>
              </a:spcAft>
              <a:buSzPts val="2400"/>
              <a:buFont typeface="Arial"/>
              <a:buAutoNum type="arabicPeriod"/>
            </a:pPr>
            <a:r>
              <a:rPr lang="en-US" sz="2400" b="1" i="0" u="none" strike="noStrike" cap="none">
                <a:solidFill>
                  <a:schemeClr val="dk1"/>
                </a:solidFill>
                <a:latin typeface="Arial"/>
                <a:ea typeface="Arial"/>
                <a:cs typeface="Arial"/>
                <a:sym typeface="Arial"/>
              </a:rPr>
              <a:t>Build and evaluate</a:t>
            </a:r>
            <a:r>
              <a:rPr lang="en-US" sz="2400" b="0" i="0" u="none" strike="noStrike" cap="none">
                <a:solidFill>
                  <a:schemeClr val="dk1"/>
                </a:solidFill>
                <a:latin typeface="Arial"/>
                <a:ea typeface="Arial"/>
                <a:cs typeface="Arial"/>
                <a:sym typeface="Arial"/>
              </a:rPr>
              <a:t> machine learning models to classify activities as either "standing" or "walking" with high accuracy.</a:t>
            </a:r>
            <a:endParaRPr sz="2400"/>
          </a:p>
          <a:p>
            <a:pPr marL="0" lvl="0" indent="-152400" algn="l" rtl="0">
              <a:lnSpc>
                <a:spcPct val="100000"/>
              </a:lnSpc>
              <a:spcBef>
                <a:spcPts val="0"/>
              </a:spcBef>
              <a:spcAft>
                <a:spcPts val="0"/>
              </a:spcAft>
              <a:buSzPts val="2400"/>
              <a:buFont typeface="Arial"/>
              <a:buAutoNum type="arabicPeriod"/>
            </a:pPr>
            <a:r>
              <a:rPr lang="en-US" sz="2400" b="1" i="0" u="none" strike="noStrike" cap="none">
                <a:solidFill>
                  <a:schemeClr val="dk1"/>
                </a:solidFill>
                <a:latin typeface="Arial"/>
                <a:ea typeface="Arial"/>
                <a:cs typeface="Arial"/>
                <a:sym typeface="Arial"/>
              </a:rPr>
              <a:t>Further action-Optimize the model</a:t>
            </a:r>
            <a:r>
              <a:rPr lang="en-US" sz="2400" b="0" i="0" u="none" strike="noStrike" cap="none">
                <a:solidFill>
                  <a:schemeClr val="dk1"/>
                </a:solidFill>
                <a:latin typeface="Arial"/>
                <a:ea typeface="Arial"/>
                <a:cs typeface="Arial"/>
                <a:sym typeface="Arial"/>
              </a:rPr>
              <a:t> to ensure robust performance, even with limited and noisy data, for potential real-time application in mobile devices.</a:t>
            </a:r>
            <a:endParaRPr sz="2400" b="0" i="0" u="none" strike="noStrike" cap="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
          <p:cNvSpPr txBox="1">
            <a:spLocks noGrp="1"/>
          </p:cNvSpPr>
          <p:nvPr>
            <p:ph type="title"/>
          </p:nvPr>
        </p:nvSpPr>
        <p:spPr>
          <a:xfrm>
            <a:off x="690372" y="346837"/>
            <a:ext cx="10515600" cy="1325563"/>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3600"/>
              <a:buFont typeface="Arial"/>
              <a:buNone/>
            </a:pPr>
            <a:r>
              <a:rPr lang="en-US" b="1" i="0" u="none" strike="noStrike" cap="none">
                <a:solidFill>
                  <a:schemeClr val="dk1"/>
                </a:solidFill>
                <a:latin typeface="Arial"/>
                <a:ea typeface="Arial"/>
                <a:cs typeface="Arial"/>
                <a:sym typeface="Arial"/>
              </a:rPr>
              <a:t>Project Scope</a:t>
            </a:r>
            <a:endParaRPr b="1" i="0" u="none" strike="noStrike" cap="none">
              <a:solidFill>
                <a:schemeClr val="dk1"/>
              </a:solidFill>
              <a:latin typeface="Arial"/>
              <a:ea typeface="Arial"/>
              <a:cs typeface="Arial"/>
              <a:sym typeface="Arial"/>
            </a:endParaRPr>
          </a:p>
        </p:txBody>
      </p:sp>
      <p:sp>
        <p:nvSpPr>
          <p:cNvPr id="164" name="Google Shape;164;p4"/>
          <p:cNvSpPr txBox="1">
            <a:spLocks noGrp="1"/>
          </p:cNvSpPr>
          <p:nvPr>
            <p:ph type="body" idx="1"/>
          </p:nvPr>
        </p:nvSpPr>
        <p:spPr>
          <a:xfrm>
            <a:off x="960120" y="1975558"/>
            <a:ext cx="9866376" cy="2646878"/>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3F3F3F"/>
              </a:buClr>
              <a:buSzPts val="1800"/>
              <a:buFont typeface="Trebuchet MS"/>
              <a:buNone/>
            </a:pPr>
            <a:endParaRPr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400"/>
              <a:buFont typeface="Arial"/>
              <a:buNone/>
            </a:pPr>
            <a:r>
              <a:rPr lang="en-US" sz="2400" b="0" i="0" u="none" strike="noStrike" cap="none">
                <a:solidFill>
                  <a:schemeClr val="dk1"/>
                </a:solidFill>
                <a:latin typeface="Arial"/>
                <a:ea typeface="Arial"/>
                <a:cs typeface="Arial"/>
                <a:sym typeface="Arial"/>
              </a:rPr>
              <a:t>This project could be useful for applications in health monitoring, fitness tracking, and security systems where activity recognition plays an essential role. The final model should be able to classify activities in real-time or near real-time, ensuring accurate and efficient monitoring of human activities using smartphone sensors.</a:t>
            </a:r>
            <a:endParaRPr sz="6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3F3F3F"/>
              </a:buClr>
              <a:buSzPts val="1800"/>
              <a:buFont typeface="Trebuchet MS"/>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5"/>
          <p:cNvSpPr txBox="1">
            <a:spLocks noGrp="1"/>
          </p:cNvSpPr>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chemeClr val="accent1"/>
              </a:buClr>
              <a:buSzPts val="3600"/>
              <a:buFont typeface="Trebuchet MS"/>
              <a:buNone/>
            </a:pPr>
            <a:r>
              <a:rPr lang="en-US"/>
              <a:t>Data Description</a:t>
            </a:r>
            <a:endParaRPr/>
          </a:p>
        </p:txBody>
      </p:sp>
      <p:sp>
        <p:nvSpPr>
          <p:cNvPr id="170" name="Google Shape;170;p5"/>
          <p:cNvSpPr txBox="1">
            <a:spLocks noGrp="1"/>
          </p:cNvSpPr>
          <p:nvPr>
            <p:ph type="body" idx="1"/>
          </p:nvPr>
        </p:nvSpPr>
        <p:spPr>
          <a:xfrm>
            <a:off x="677325" y="1499125"/>
            <a:ext cx="9585900" cy="5358900"/>
          </a:xfrm>
          <a:prstGeom prst="rect">
            <a:avLst/>
          </a:prstGeom>
          <a:noFill/>
          <a:ln>
            <a:noFill/>
          </a:ln>
        </p:spPr>
        <p:txBody>
          <a:bodyPr spcFirstLastPara="1" wrap="square" lIns="91425" tIns="45700" rIns="91425" bIns="45700" anchor="t" anchorCtr="0">
            <a:noAutofit/>
          </a:bodyPr>
          <a:lstStyle/>
          <a:p>
            <a:pPr marL="342900" lvl="0" indent="-380492" algn="l" rtl="0">
              <a:spcBef>
                <a:spcPts val="0"/>
              </a:spcBef>
              <a:spcAft>
                <a:spcPts val="0"/>
              </a:spcAft>
              <a:buSzPts val="1600"/>
              <a:buChar char="►"/>
            </a:pPr>
            <a:r>
              <a:rPr lang="en-US" sz="1600"/>
              <a:t>Column     Data Type	   Description</a:t>
            </a:r>
            <a:endParaRPr sz="1600"/>
          </a:p>
          <a:p>
            <a:pPr marL="342900" lvl="0" indent="-380492" algn="l" rtl="0">
              <a:spcBef>
                <a:spcPts val="1000"/>
              </a:spcBef>
              <a:spcAft>
                <a:spcPts val="0"/>
              </a:spcAft>
              <a:buSzPts val="1600"/>
              <a:buChar char="►"/>
            </a:pPr>
            <a:r>
              <a:rPr lang="en-US" sz="1600"/>
              <a:t>accX	      float	             Acceleration along the X-axis in m/s², measured by the mobile phone’s accelerometer sensor.</a:t>
            </a:r>
            <a:endParaRPr sz="1600"/>
          </a:p>
          <a:p>
            <a:pPr marL="342900" lvl="0" indent="-380492" algn="l" rtl="0">
              <a:spcBef>
                <a:spcPts val="1000"/>
              </a:spcBef>
              <a:spcAft>
                <a:spcPts val="0"/>
              </a:spcAft>
              <a:buSzPts val="1600"/>
              <a:buChar char="►"/>
            </a:pPr>
            <a:r>
              <a:rPr lang="en-US" sz="1600"/>
              <a:t>accY	    float	Acceleration along the Y-axis in m/s², measured by the mobile phone’s accelerometer sensor.</a:t>
            </a:r>
            <a:endParaRPr sz="1600"/>
          </a:p>
          <a:p>
            <a:pPr marL="342900" lvl="0" indent="-380492" algn="l" rtl="0">
              <a:spcBef>
                <a:spcPts val="1000"/>
              </a:spcBef>
              <a:spcAft>
                <a:spcPts val="0"/>
              </a:spcAft>
              <a:buSzPts val="1600"/>
              <a:buChar char="►"/>
            </a:pPr>
            <a:r>
              <a:rPr lang="en-US" sz="1600"/>
              <a:t>accZ	   float	Acceleration along the Z-axis in m/s², measured by the mobile phone’s accelerometer sensor.</a:t>
            </a:r>
            <a:endParaRPr sz="1600"/>
          </a:p>
          <a:p>
            <a:pPr marL="342900" lvl="0" indent="-380492" algn="l" rtl="0">
              <a:spcBef>
                <a:spcPts val="1000"/>
              </a:spcBef>
              <a:spcAft>
                <a:spcPts val="0"/>
              </a:spcAft>
              <a:buSzPts val="1600"/>
              <a:buChar char="►"/>
            </a:pPr>
            <a:r>
              <a:rPr lang="en-US" sz="1600"/>
              <a:t>gyroX	  float	Angular velocity around the X-axis in rad/s, measured by the mobile phone’s gyroscope sensor.</a:t>
            </a:r>
            <a:endParaRPr sz="1600"/>
          </a:p>
          <a:p>
            <a:pPr marL="342900" lvl="0" indent="-380492" algn="l" rtl="0">
              <a:spcBef>
                <a:spcPts val="1000"/>
              </a:spcBef>
              <a:spcAft>
                <a:spcPts val="0"/>
              </a:spcAft>
              <a:buSzPts val="1600"/>
              <a:buChar char="►"/>
            </a:pPr>
            <a:r>
              <a:rPr lang="en-US" sz="1600"/>
              <a:t>gyroY	  float	Angular velocity around the Y-axis in rad/s, measured by the mobile phone’s gyroscope sensor.</a:t>
            </a:r>
            <a:endParaRPr sz="1600"/>
          </a:p>
          <a:p>
            <a:pPr marL="342900" lvl="0" indent="-380492" algn="l" rtl="0">
              <a:spcBef>
                <a:spcPts val="1000"/>
              </a:spcBef>
              <a:spcAft>
                <a:spcPts val="0"/>
              </a:spcAft>
              <a:buSzPts val="1600"/>
              <a:buChar char="►"/>
            </a:pPr>
            <a:r>
              <a:rPr lang="en-US" sz="1600"/>
              <a:t>gyroZ	  float	Angular velocity around the Z-axis in rad/s, measured by the mobile phone’s gyroscope sensor.</a:t>
            </a:r>
            <a:endParaRPr sz="1600"/>
          </a:p>
          <a:p>
            <a:pPr marL="342900" lvl="0" indent="-380492" algn="l" rtl="0">
              <a:spcBef>
                <a:spcPts val="1000"/>
              </a:spcBef>
              <a:spcAft>
                <a:spcPts val="0"/>
              </a:spcAft>
              <a:buSzPts val="1600"/>
              <a:buChar char="►"/>
            </a:pPr>
            <a:r>
              <a:rPr lang="en-US" sz="1600"/>
              <a:t>Timestamp time	Timestamp of the recorded sensor data in HH</a:t>
            </a:r>
            <a:endParaRPr sz="1600"/>
          </a:p>
          <a:p>
            <a:pPr marL="342900" lvl="0" indent="-380492" algn="l" rtl="0">
              <a:spcBef>
                <a:spcPts val="1000"/>
              </a:spcBef>
              <a:spcAft>
                <a:spcPts val="0"/>
              </a:spcAft>
              <a:buSzPts val="1600"/>
              <a:buChar char="►"/>
            </a:pPr>
            <a:r>
              <a:rPr lang="en-US" sz="1600"/>
              <a:t>.S format, indicating the time the measurement was taken.</a:t>
            </a:r>
            <a:endParaRPr sz="1600"/>
          </a:p>
          <a:p>
            <a:pPr marL="342900" lvl="0" indent="-380492" algn="l" rtl="0">
              <a:spcBef>
                <a:spcPts val="1000"/>
              </a:spcBef>
              <a:spcAft>
                <a:spcPts val="0"/>
              </a:spcAft>
              <a:buSzPts val="1600"/>
              <a:buChar char="►"/>
            </a:pPr>
            <a:r>
              <a:rPr lang="en-US" sz="1600"/>
              <a:t>Activity	integer	Label for the activity being performed. 1 represents standing (stop), and 2 represents walking.</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6"/>
          <p:cNvSpPr txBox="1">
            <a:spLocks noGrp="1"/>
          </p:cNvSpPr>
          <p:nvPr>
            <p:ph type="title"/>
          </p:nvPr>
        </p:nvSpPr>
        <p:spPr>
          <a:xfrm>
            <a:off x="3860231" y="804863"/>
            <a:ext cx="4785862" cy="840230"/>
          </a:xfrm>
          <a:prstGeom prst="rect">
            <a:avLst/>
          </a:prstGeom>
          <a:noFill/>
          <a:ln>
            <a:noFill/>
          </a:ln>
        </p:spPr>
        <p:txBody>
          <a:bodyPr spcFirstLastPara="1" wrap="square" lIns="91425" tIns="45700" rIns="91425" bIns="45700" anchor="ctr" anchorCtr="0">
            <a:spAutoFit/>
          </a:bodyPr>
          <a:lstStyle/>
          <a:p>
            <a:pPr marL="0" lvl="0" indent="0" algn="ctr" rtl="0">
              <a:lnSpc>
                <a:spcPct val="90000"/>
              </a:lnSpc>
              <a:spcBef>
                <a:spcPts val="0"/>
              </a:spcBef>
              <a:spcAft>
                <a:spcPts val="0"/>
              </a:spcAft>
              <a:buClr>
                <a:schemeClr val="accent1"/>
              </a:buClr>
              <a:buSzPts val="5400"/>
              <a:buFont typeface="Arial Black"/>
              <a:buNone/>
            </a:pPr>
            <a:r>
              <a:rPr lang="en-US" sz="5400" cap="none">
                <a:solidFill>
                  <a:schemeClr val="accent1"/>
                </a:solidFill>
                <a:latin typeface="Arial Black"/>
                <a:ea typeface="Arial Black"/>
                <a:cs typeface="Arial Black"/>
                <a:sym typeface="Arial Black"/>
              </a:rPr>
              <a:t>Instructions</a:t>
            </a:r>
            <a:endParaRPr sz="5400" b="0" cap="none">
              <a:solidFill>
                <a:schemeClr val="accent1"/>
              </a:solidFill>
              <a:latin typeface="Arial Black"/>
              <a:ea typeface="Arial Black"/>
              <a:cs typeface="Arial Black"/>
              <a:sym typeface="Arial Black"/>
            </a:endParaRPr>
          </a:p>
        </p:txBody>
      </p:sp>
      <p:sp>
        <p:nvSpPr>
          <p:cNvPr id="176" name="Google Shape;176;p6"/>
          <p:cNvSpPr txBox="1">
            <a:spLocks noGrp="1"/>
          </p:cNvSpPr>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p>
            <a:pPr lvl="0" indent="-215265">
              <a:spcBef>
                <a:spcPts val="0"/>
              </a:spcBef>
              <a:buClr>
                <a:schemeClr val="dk1"/>
              </a:buClr>
              <a:buSzPts val="2200"/>
            </a:pPr>
            <a:r>
              <a:rPr lang="en-US" dirty="0"/>
              <a:t>The dataset will be given through a drive link  </a:t>
            </a:r>
          </a:p>
          <a:p>
            <a:pPr lvl="0" indent="-215265">
              <a:buClr>
                <a:schemeClr val="dk1"/>
              </a:buClr>
              <a:buSzPts val="2200"/>
            </a:pPr>
            <a:r>
              <a:rPr lang="en-US" dirty="0"/>
              <a:t>You have to submit the project with a Ppt presentation by </a:t>
            </a:r>
            <a:r>
              <a:rPr lang="en-US" b="1" u="sng" dirty="0"/>
              <a:t>Tuesday 15th September  2026 by EOD.</a:t>
            </a:r>
          </a:p>
          <a:p>
            <a:pPr lvl="0" indent="-201930"/>
            <a:r>
              <a:rPr lang="en-US" dirty="0"/>
              <a:t> Kindly submit your ‘</a:t>
            </a:r>
            <a:r>
              <a:rPr lang="en-US" dirty="0" err="1"/>
              <a:t>XYZ.ipynb</a:t>
            </a:r>
            <a:r>
              <a:rPr lang="en-US" dirty="0"/>
              <a:t>’ file and ‘XYZ.ppt’ to</a:t>
            </a:r>
            <a:r>
              <a:rPr lang="en-US" b="1" dirty="0"/>
              <a:t> </a:t>
            </a:r>
            <a:r>
              <a:rPr lang="en-US" b="1" dirty="0">
                <a:hlinkClick r:id="rId3">
                  <a:extLst>
                    <a:ext uri="{A12FA001-AC4F-418D-AE19-62706E023703}">
                      <ahyp:hlinkClr xmlns:ahyp="http://schemas.microsoft.com/office/drawing/2018/hyperlinkcolor" val="tx"/>
                    </a:ext>
                  </a:extLst>
                </a:hlinkClick>
              </a:rPr>
              <a:t>team.placements@learnbay.co</a:t>
            </a:r>
            <a:r>
              <a:rPr lang="en-US" b="1" dirty="0"/>
              <a:t> </a:t>
            </a:r>
            <a:r>
              <a:rPr lang="en-US" dirty="0"/>
              <a:t>within the timeframe, submission of the project after the due date will be considered disqualified. Late submission will be considered with a valid reason.</a:t>
            </a:r>
          </a:p>
          <a:p>
            <a:pPr lvl="0" indent="-201930">
              <a:buClr>
                <a:schemeClr val="dk1"/>
              </a:buClr>
            </a:pPr>
            <a:r>
              <a:rPr lang="en-US" dirty="0"/>
              <a:t>After submission of the project, you’ll get a link to book a time for the project presentation.</a:t>
            </a:r>
          </a:p>
          <a:p>
            <a:pPr lvl="0" indent="-201930">
              <a:buClr>
                <a:schemeClr val="dk1"/>
              </a:buClr>
            </a:pPr>
            <a:r>
              <a:rPr lang="en-US" dirty="0"/>
              <a:t>After the booking slot, </a:t>
            </a:r>
            <a:r>
              <a:rPr lang="en-US" b="1" dirty="0"/>
              <a:t>make sure not to miss the slot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body" idx="1"/>
          </p:nvPr>
        </p:nvSpPr>
        <p:spPr>
          <a:xfrm>
            <a:off x="1032450" y="1229849"/>
            <a:ext cx="8737192" cy="5257200"/>
          </a:xfrm>
          <a:prstGeom prst="rect">
            <a:avLst/>
          </a:prstGeom>
          <a:noFill/>
          <a:ln>
            <a:noFill/>
          </a:ln>
        </p:spPr>
        <p:txBody>
          <a:bodyPr spcFirstLastPara="1" wrap="square" lIns="91425" tIns="45700" rIns="91425" bIns="45700" anchor="t" anchorCtr="0">
            <a:normAutofit fontScale="85000" lnSpcReduction="10000"/>
          </a:bodyPr>
          <a:lstStyle/>
          <a:p>
            <a:pPr marL="342900" lvl="0" indent="-308610">
              <a:lnSpc>
                <a:spcPct val="150000"/>
              </a:lnSpc>
              <a:spcBef>
                <a:spcPts val="0"/>
              </a:spcBef>
              <a:buSzPct val="64285"/>
            </a:pPr>
            <a:r>
              <a:rPr lang="en-US" dirty="0">
                <a:cs typeface="Arial" panose="020B0604020202020204" pitchFamily="34" charset="0"/>
              </a:rPr>
              <a:t>Selection of candidates will be based on their </a:t>
            </a:r>
            <a:r>
              <a:rPr lang="en-US" b="1" dirty="0">
                <a:cs typeface="Arial" panose="020B0604020202020204" pitchFamily="34" charset="0"/>
              </a:rPr>
              <a:t>approach to Analysis,  presentation skills(Storytelling skills), and subject knowledge points(Mock questions related to PYTHON and ML. ETC)</a:t>
            </a:r>
          </a:p>
          <a:p>
            <a:pPr marL="342900" lvl="0" indent="-308610">
              <a:lnSpc>
                <a:spcPct val="150000"/>
              </a:lnSpc>
              <a:spcBef>
                <a:spcPts val="0"/>
              </a:spcBef>
              <a:buSzPct val="64285"/>
            </a:pPr>
            <a:r>
              <a:rPr lang="en-US" dirty="0">
                <a:cs typeface="Arial" panose="020B0604020202020204" pitchFamily="34" charset="0"/>
              </a:rPr>
              <a:t>Once the presentation is done every candidate will get their feedback during the session and outcome and score via mail with the status of whether they are selected or not. </a:t>
            </a:r>
          </a:p>
          <a:p>
            <a:pPr marL="342900" indent="-308610">
              <a:lnSpc>
                <a:spcPct val="150000"/>
              </a:lnSpc>
              <a:spcBef>
                <a:spcPts val="0"/>
              </a:spcBef>
              <a:buSzPct val="64285"/>
            </a:pPr>
            <a:r>
              <a:rPr lang="en-US" dirty="0"/>
              <a:t>Note: you need to score 80% to clear this round</a:t>
            </a:r>
            <a:endParaRPr lang="en-US" dirty="0">
              <a:cs typeface="Arial" panose="020B0604020202020204" pitchFamily="34" charset="0"/>
            </a:endParaRPr>
          </a:p>
          <a:p>
            <a:pPr marL="342900" lvl="0" indent="-308610">
              <a:lnSpc>
                <a:spcPct val="150000"/>
              </a:lnSpc>
              <a:buSzPct val="64285"/>
            </a:pPr>
            <a:r>
              <a:rPr lang="en-US" dirty="0">
                <a:cs typeface="Arial" panose="020B0604020202020204" pitchFamily="34" charset="0"/>
              </a:rPr>
              <a:t>Selected candidates’ data will be shared with the placement team for 1 on 1 resume session.</a:t>
            </a:r>
          </a:p>
          <a:p>
            <a:pPr marL="342900" lvl="0" indent="-308610">
              <a:lnSpc>
                <a:spcPct val="150000"/>
              </a:lnSpc>
              <a:buSzPct val="64285"/>
            </a:pPr>
            <a:r>
              <a:rPr lang="en-US" dirty="0">
                <a:cs typeface="Arial" panose="020B0604020202020204" pitchFamily="34" charset="0"/>
              </a:rPr>
              <a:t>(before attending the resume review session kindly go through the group session for resume first)</a:t>
            </a:r>
          </a:p>
          <a:p>
            <a:pPr marL="342900" lvl="0" indent="-308610">
              <a:lnSpc>
                <a:spcPct val="150000"/>
              </a:lnSpc>
              <a:buSzPct val="64285"/>
            </a:pPr>
            <a:r>
              <a:rPr lang="en-US" dirty="0">
                <a:cs typeface="Arial" panose="020B0604020202020204" pitchFamily="34" charset="0"/>
              </a:rPr>
              <a:t>Candidates who are not selected in this process will be carried forward to the next project.</a:t>
            </a:r>
          </a:p>
          <a:p>
            <a:pPr marL="342900" lvl="0" indent="-308610">
              <a:lnSpc>
                <a:spcPct val="150000"/>
              </a:lnSpc>
              <a:buSzPct val="64285"/>
            </a:pPr>
            <a:r>
              <a:rPr lang="en-US" b="1" dirty="0">
                <a:cs typeface="Arial" panose="020B0604020202020204" pitchFamily="34" charset="0"/>
              </a:rPr>
              <a:t>Kindly do not book multiple slots, if found it shall be considered as cancelled. If any change in the slot date and time kindly inform or cancel the previous slot.</a:t>
            </a:r>
          </a:p>
          <a:p>
            <a:pPr marL="0" lvl="0" indent="0">
              <a:buSzPct val="64285"/>
              <a:buNone/>
            </a:pPr>
            <a:endParaRPr lang="en-US" dirty="0"/>
          </a:p>
          <a:p>
            <a:pPr marL="342900" lvl="0">
              <a:buSzPct val="64285"/>
              <a:buNone/>
            </a:pPr>
            <a:endParaRPr lang="en-US"/>
          </a:p>
          <a:p>
            <a:endParaRPr lang="en-IN" dirty="0"/>
          </a:p>
        </p:txBody>
      </p:sp>
      <p:sp>
        <p:nvSpPr>
          <p:cNvPr id="182" name="Google Shape;182;p7"/>
          <p:cNvSpPr/>
          <p:nvPr/>
        </p:nvSpPr>
        <p:spPr>
          <a:xfrm>
            <a:off x="1942350" y="192275"/>
            <a:ext cx="8896800" cy="9234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accent1"/>
                </a:solidFill>
                <a:latin typeface="Arial"/>
                <a:ea typeface="Arial"/>
                <a:cs typeface="Arial"/>
                <a:sym typeface="Arial"/>
              </a:rPr>
              <a:t>Selection &amp; feedback</a:t>
            </a:r>
            <a:endParaRPr sz="5400" b="0" i="0" u="none" strike="noStrike" cap="none">
              <a:solidFill>
                <a:schemeClr val="accen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8"/>
          <p:cNvSpPr txBox="1">
            <a:spLocks noGrp="1"/>
          </p:cNvSpPr>
          <p:nvPr>
            <p:ph type="title"/>
          </p:nvPr>
        </p:nvSpPr>
        <p:spPr>
          <a:xfrm>
            <a:off x="3570628" y="3008885"/>
            <a:ext cx="5050743" cy="840230"/>
          </a:xfrm>
          <a:prstGeom prst="rect">
            <a:avLst/>
          </a:prstGeom>
          <a:noFill/>
          <a:ln>
            <a:noFill/>
          </a:ln>
        </p:spPr>
        <p:txBody>
          <a:bodyPr spcFirstLastPara="1" wrap="square" lIns="91425" tIns="45700" rIns="91425" bIns="45700" anchor="ctr" anchorCtr="0">
            <a:spAutoFit/>
          </a:bodyPr>
          <a:lstStyle/>
          <a:p>
            <a:pPr marL="0" lvl="0" indent="0" algn="ctr" rtl="0">
              <a:lnSpc>
                <a:spcPct val="80000"/>
              </a:lnSpc>
              <a:spcBef>
                <a:spcPts val="0"/>
              </a:spcBef>
              <a:spcAft>
                <a:spcPts val="0"/>
              </a:spcAft>
              <a:buClr>
                <a:schemeClr val="accent1"/>
              </a:buClr>
              <a:buSzPts val="5400"/>
              <a:buFont typeface="Arial Black"/>
              <a:buNone/>
            </a:pPr>
            <a:r>
              <a:rPr lang="en-US" sz="5400" cap="none">
                <a:solidFill>
                  <a:schemeClr val="accent1"/>
                </a:solidFill>
                <a:latin typeface="Arial Black"/>
                <a:ea typeface="Arial Black"/>
                <a:cs typeface="Arial Black"/>
                <a:sym typeface="Arial Black"/>
              </a:rPr>
              <a:t>All The Best!</a:t>
            </a:r>
            <a:endParaRPr sz="5400" b="0" cap="none">
              <a:solidFill>
                <a:schemeClr val="accent1"/>
              </a:solidFill>
              <a:latin typeface="Arial Black"/>
              <a:ea typeface="Arial Black"/>
              <a:cs typeface="Arial Black"/>
              <a:sym typeface="Arial Black"/>
            </a:endParaRPr>
          </a:p>
        </p:txBody>
      </p:sp>
      <p:sp>
        <p:nvSpPr>
          <p:cNvPr id="188" name="Google Shape;188;p8"/>
          <p:cNvSpPr/>
          <p:nvPr/>
        </p:nvSpPr>
        <p:spPr>
          <a:xfrm>
            <a:off x="5978820" y="3275112"/>
            <a:ext cx="23436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800" b="0" i="0" u="none" strike="noStrike" cap="none">
              <a:solidFill>
                <a:schemeClr val="dk1"/>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725</Words>
  <Application>Microsoft Office PowerPoint</Application>
  <PresentationFormat>Widescreen</PresentationFormat>
  <Paragraphs>41</Paragraphs>
  <Slides>8</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Noto Sans Symbols</vt:lpstr>
      <vt:lpstr>Calibri</vt:lpstr>
      <vt:lpstr>Trebuchet MS</vt:lpstr>
      <vt:lpstr>Century Gothic</vt:lpstr>
      <vt:lpstr>Arial Black</vt:lpstr>
      <vt:lpstr>Facet</vt:lpstr>
      <vt:lpstr>Human Activity Recognition Using Mobile Sensor Data   </vt:lpstr>
      <vt:lpstr>Problem Statement</vt:lpstr>
      <vt:lpstr>PowerPoint Presentation</vt:lpstr>
      <vt:lpstr>Project Scope</vt:lpstr>
      <vt:lpstr>Data Description</vt:lpstr>
      <vt:lpstr>Instructions</vt:lpstr>
      <vt:lpstr>PowerPoint Presentation</vt:lpstr>
      <vt:lpstr>All The Best!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swapna p</cp:lastModifiedBy>
  <cp:revision>2</cp:revision>
  <dcterms:created xsi:type="dcterms:W3CDTF">2024-11-14T09:21:49Z</dcterms:created>
  <dcterms:modified xsi:type="dcterms:W3CDTF">2026-09-03T07:31:45Z</dcterms:modified>
</cp:coreProperties>
</file>